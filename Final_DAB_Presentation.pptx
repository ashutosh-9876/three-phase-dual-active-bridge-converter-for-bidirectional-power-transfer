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FBA2D1-99F9-4A8B-A0D6-EFB410B41A8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634CAF-82B3-47D7-8E5F-067152A9E739}">
      <dgm:prSet/>
      <dgm:spPr/>
      <dgm:t>
        <a:bodyPr/>
        <a:lstStyle/>
        <a:p>
          <a:r>
            <a:rPr lang="en-IN"/>
            <a:t>Need efficient </a:t>
          </a:r>
          <a:r>
            <a:rPr lang="en-IN" b="1"/>
            <a:t>bidirectional DC-DC conversion</a:t>
          </a:r>
          <a:r>
            <a:rPr lang="en-IN"/>
            <a:t> for modern energy systems </a:t>
          </a:r>
          <a:endParaRPr lang="en-US"/>
        </a:p>
      </dgm:t>
    </dgm:pt>
    <dgm:pt modelId="{6D716711-4ED5-4665-8BA8-15FDED5DF310}" type="parTrans" cxnId="{3A1EAD91-3D09-40B1-8084-A445D940D696}">
      <dgm:prSet/>
      <dgm:spPr/>
      <dgm:t>
        <a:bodyPr/>
        <a:lstStyle/>
        <a:p>
          <a:endParaRPr lang="en-US"/>
        </a:p>
      </dgm:t>
    </dgm:pt>
    <dgm:pt modelId="{CE1F3C82-44AB-4ECC-9A34-607B17AEEC1E}" type="sibTrans" cxnId="{3A1EAD91-3D09-40B1-8084-A445D940D696}">
      <dgm:prSet/>
      <dgm:spPr/>
      <dgm:t>
        <a:bodyPr/>
        <a:lstStyle/>
        <a:p>
          <a:endParaRPr lang="en-US"/>
        </a:p>
      </dgm:t>
    </dgm:pt>
    <dgm:pt modelId="{63777451-D979-4C3C-B0B0-B37438104827}">
      <dgm:prSet/>
      <dgm:spPr/>
      <dgm:t>
        <a:bodyPr/>
        <a:lstStyle/>
        <a:p>
          <a:r>
            <a:rPr lang="en-IN"/>
            <a:t>Essential in </a:t>
          </a:r>
          <a:r>
            <a:rPr lang="en-IN" b="1"/>
            <a:t>electric vehicles (EVs)</a:t>
          </a:r>
          <a:r>
            <a:rPr lang="en-IN"/>
            <a:t> and </a:t>
          </a:r>
          <a:r>
            <a:rPr lang="en-IN" b="1"/>
            <a:t>battery storage systems</a:t>
          </a:r>
          <a:r>
            <a:rPr lang="en-IN"/>
            <a:t> </a:t>
          </a:r>
          <a:endParaRPr lang="en-US"/>
        </a:p>
      </dgm:t>
    </dgm:pt>
    <dgm:pt modelId="{6C3B5E4D-5622-42C9-9F01-CA6ED04DB0D1}" type="parTrans" cxnId="{B52138E1-EC2A-4E36-84C3-8264B6B441A1}">
      <dgm:prSet/>
      <dgm:spPr/>
      <dgm:t>
        <a:bodyPr/>
        <a:lstStyle/>
        <a:p>
          <a:endParaRPr lang="en-US"/>
        </a:p>
      </dgm:t>
    </dgm:pt>
    <dgm:pt modelId="{BDBCBC2F-9AFD-4F34-8FFC-76E92DBFF17D}" type="sibTrans" cxnId="{B52138E1-EC2A-4E36-84C3-8264B6B441A1}">
      <dgm:prSet/>
      <dgm:spPr/>
      <dgm:t>
        <a:bodyPr/>
        <a:lstStyle/>
        <a:p>
          <a:endParaRPr lang="en-US"/>
        </a:p>
      </dgm:t>
    </dgm:pt>
    <dgm:pt modelId="{A0905FBD-1011-4950-AB23-A09C80E1FD35}">
      <dgm:prSet/>
      <dgm:spPr/>
      <dgm:t>
        <a:bodyPr/>
        <a:lstStyle/>
        <a:p>
          <a:r>
            <a:rPr lang="en-IN"/>
            <a:t>Requires </a:t>
          </a:r>
          <a:r>
            <a:rPr lang="en-IN" b="1"/>
            <a:t>galvanic isolation</a:t>
          </a:r>
          <a:r>
            <a:rPr lang="en-IN"/>
            <a:t> for safety and voltage matching </a:t>
          </a:r>
          <a:endParaRPr lang="en-US"/>
        </a:p>
      </dgm:t>
    </dgm:pt>
    <dgm:pt modelId="{60117A5E-1653-4717-BC6D-C77F0AA2686E}" type="parTrans" cxnId="{0159FA6B-6E2D-4BCA-B707-470DA4A7D1AF}">
      <dgm:prSet/>
      <dgm:spPr/>
      <dgm:t>
        <a:bodyPr/>
        <a:lstStyle/>
        <a:p>
          <a:endParaRPr lang="en-US"/>
        </a:p>
      </dgm:t>
    </dgm:pt>
    <dgm:pt modelId="{44F50A13-143B-4F31-8BE2-510B705D5496}" type="sibTrans" cxnId="{0159FA6B-6E2D-4BCA-B707-470DA4A7D1AF}">
      <dgm:prSet/>
      <dgm:spPr/>
      <dgm:t>
        <a:bodyPr/>
        <a:lstStyle/>
        <a:p>
          <a:endParaRPr lang="en-US"/>
        </a:p>
      </dgm:t>
    </dgm:pt>
    <dgm:pt modelId="{994BAFD7-4094-408D-9739-42B9F26F102B}">
      <dgm:prSet/>
      <dgm:spPr/>
      <dgm:t>
        <a:bodyPr/>
        <a:lstStyle/>
        <a:p>
          <a:r>
            <a:rPr lang="en-IN"/>
            <a:t>Must provide </a:t>
          </a:r>
          <a:r>
            <a:rPr lang="en-IN" b="1"/>
            <a:t>controlled and reversible power flow</a:t>
          </a:r>
          <a:r>
            <a:rPr lang="en-IN"/>
            <a:t> between sources </a:t>
          </a:r>
          <a:endParaRPr lang="en-US"/>
        </a:p>
      </dgm:t>
    </dgm:pt>
    <dgm:pt modelId="{8F71A5E4-10AC-40DE-8869-B0D8FC4CAFC3}" type="parTrans" cxnId="{8EF52B2F-0F37-43D1-A8AF-9268F011DB72}">
      <dgm:prSet/>
      <dgm:spPr/>
      <dgm:t>
        <a:bodyPr/>
        <a:lstStyle/>
        <a:p>
          <a:endParaRPr lang="en-US"/>
        </a:p>
      </dgm:t>
    </dgm:pt>
    <dgm:pt modelId="{F9E2D47A-5920-49AB-A84C-C35E76A1BE09}" type="sibTrans" cxnId="{8EF52B2F-0F37-43D1-A8AF-9268F011DB72}">
      <dgm:prSet/>
      <dgm:spPr/>
      <dgm:t>
        <a:bodyPr/>
        <a:lstStyle/>
        <a:p>
          <a:endParaRPr lang="en-US"/>
        </a:p>
      </dgm:t>
    </dgm:pt>
    <dgm:pt modelId="{20A5A8E6-AF9D-4B48-9C9C-42F817196F17}">
      <dgm:prSet/>
      <dgm:spPr/>
      <dgm:t>
        <a:bodyPr/>
        <a:lstStyle/>
        <a:p>
          <a:r>
            <a:rPr lang="en-IN"/>
            <a:t>Conventional converters face </a:t>
          </a:r>
          <a:r>
            <a:rPr lang="en-IN" b="1"/>
            <a:t>high losses and limited bidirectional capability</a:t>
          </a:r>
          <a:r>
            <a:rPr lang="en-IN"/>
            <a:t> </a:t>
          </a:r>
          <a:endParaRPr lang="en-US"/>
        </a:p>
      </dgm:t>
    </dgm:pt>
    <dgm:pt modelId="{F5B1A99A-A44D-4946-9920-4CDE98E386F5}" type="parTrans" cxnId="{82BE1973-A987-4297-8FE3-A7F999F11EBF}">
      <dgm:prSet/>
      <dgm:spPr/>
      <dgm:t>
        <a:bodyPr/>
        <a:lstStyle/>
        <a:p>
          <a:endParaRPr lang="en-US"/>
        </a:p>
      </dgm:t>
    </dgm:pt>
    <dgm:pt modelId="{FD94146F-3D41-4124-9D62-6F4A82B8F3A3}" type="sibTrans" cxnId="{82BE1973-A987-4297-8FE3-A7F999F11EBF}">
      <dgm:prSet/>
      <dgm:spPr/>
      <dgm:t>
        <a:bodyPr/>
        <a:lstStyle/>
        <a:p>
          <a:endParaRPr lang="en-US"/>
        </a:p>
      </dgm:t>
    </dgm:pt>
    <dgm:pt modelId="{2CCDE872-A440-407F-BC95-0E67357DBFB3}">
      <dgm:prSet/>
      <dgm:spPr/>
      <dgm:t>
        <a:bodyPr/>
        <a:lstStyle/>
        <a:p>
          <a:r>
            <a:rPr lang="en-IN"/>
            <a:t>Hence, </a:t>
          </a:r>
          <a:r>
            <a:rPr lang="en-IN" b="1"/>
            <a:t>Dual Active Bridge (DAB)</a:t>
          </a:r>
          <a:r>
            <a:rPr lang="en-IN"/>
            <a:t> is preferred for high efficiency and flexibility </a:t>
          </a:r>
          <a:endParaRPr lang="en-US"/>
        </a:p>
      </dgm:t>
    </dgm:pt>
    <dgm:pt modelId="{1C51DB98-EA00-4FAE-952D-9157FA5A7553}" type="parTrans" cxnId="{92C53138-15AC-4B39-9061-9F88D0622BB6}">
      <dgm:prSet/>
      <dgm:spPr/>
      <dgm:t>
        <a:bodyPr/>
        <a:lstStyle/>
        <a:p>
          <a:endParaRPr lang="en-US"/>
        </a:p>
      </dgm:t>
    </dgm:pt>
    <dgm:pt modelId="{5FFB6908-D973-4A26-B4C9-F59619AC797E}" type="sibTrans" cxnId="{92C53138-15AC-4B39-9061-9F88D0622BB6}">
      <dgm:prSet/>
      <dgm:spPr/>
      <dgm:t>
        <a:bodyPr/>
        <a:lstStyle/>
        <a:p>
          <a:endParaRPr lang="en-US"/>
        </a:p>
      </dgm:t>
    </dgm:pt>
    <dgm:pt modelId="{74013C69-78C0-4E68-B4C5-45E979DB4078}" type="pres">
      <dgm:prSet presAssocID="{B3FBA2D1-99F9-4A8B-A0D6-EFB410B41A86}" presName="Name0" presStyleCnt="0">
        <dgm:presLayoutVars>
          <dgm:dir/>
          <dgm:resizeHandles val="exact"/>
        </dgm:presLayoutVars>
      </dgm:prSet>
      <dgm:spPr/>
    </dgm:pt>
    <dgm:pt modelId="{7ED508F1-E3C0-4153-B35D-496FBF672552}" type="pres">
      <dgm:prSet presAssocID="{A8634CAF-82B3-47D7-8E5F-067152A9E739}" presName="node" presStyleLbl="node1" presStyleIdx="0" presStyleCnt="6">
        <dgm:presLayoutVars>
          <dgm:bulletEnabled val="1"/>
        </dgm:presLayoutVars>
      </dgm:prSet>
      <dgm:spPr/>
    </dgm:pt>
    <dgm:pt modelId="{97CA05C3-E368-4F25-8A42-627790823A78}" type="pres">
      <dgm:prSet presAssocID="{CE1F3C82-44AB-4ECC-9A34-607B17AEEC1E}" presName="sibTrans" presStyleLbl="sibTrans1D1" presStyleIdx="0" presStyleCnt="5"/>
      <dgm:spPr/>
    </dgm:pt>
    <dgm:pt modelId="{27E459B2-7275-4DB1-8589-469353E0AFC5}" type="pres">
      <dgm:prSet presAssocID="{CE1F3C82-44AB-4ECC-9A34-607B17AEEC1E}" presName="connectorText" presStyleLbl="sibTrans1D1" presStyleIdx="0" presStyleCnt="5"/>
      <dgm:spPr/>
    </dgm:pt>
    <dgm:pt modelId="{FAE9617D-4D5E-43E5-B3ED-3378FEFA4926}" type="pres">
      <dgm:prSet presAssocID="{63777451-D979-4C3C-B0B0-B37438104827}" presName="node" presStyleLbl="node1" presStyleIdx="1" presStyleCnt="6">
        <dgm:presLayoutVars>
          <dgm:bulletEnabled val="1"/>
        </dgm:presLayoutVars>
      </dgm:prSet>
      <dgm:spPr/>
    </dgm:pt>
    <dgm:pt modelId="{A6E327ED-ADD3-424D-9462-C4AF599B1DF2}" type="pres">
      <dgm:prSet presAssocID="{BDBCBC2F-9AFD-4F34-8FFC-76E92DBFF17D}" presName="sibTrans" presStyleLbl="sibTrans1D1" presStyleIdx="1" presStyleCnt="5"/>
      <dgm:spPr/>
    </dgm:pt>
    <dgm:pt modelId="{6B4EF1CF-784B-43C1-9DA3-95FDE4BEAA14}" type="pres">
      <dgm:prSet presAssocID="{BDBCBC2F-9AFD-4F34-8FFC-76E92DBFF17D}" presName="connectorText" presStyleLbl="sibTrans1D1" presStyleIdx="1" presStyleCnt="5"/>
      <dgm:spPr/>
    </dgm:pt>
    <dgm:pt modelId="{66A9070F-492C-496D-8328-8E1CE7E74F4C}" type="pres">
      <dgm:prSet presAssocID="{A0905FBD-1011-4950-AB23-A09C80E1FD35}" presName="node" presStyleLbl="node1" presStyleIdx="2" presStyleCnt="6">
        <dgm:presLayoutVars>
          <dgm:bulletEnabled val="1"/>
        </dgm:presLayoutVars>
      </dgm:prSet>
      <dgm:spPr/>
    </dgm:pt>
    <dgm:pt modelId="{ABEB1684-752F-4144-9E5E-C4BCEDA8BE28}" type="pres">
      <dgm:prSet presAssocID="{44F50A13-143B-4F31-8BE2-510B705D5496}" presName="sibTrans" presStyleLbl="sibTrans1D1" presStyleIdx="2" presStyleCnt="5"/>
      <dgm:spPr/>
    </dgm:pt>
    <dgm:pt modelId="{A60A99B1-717E-4E9F-81D3-9A5D1A1F552E}" type="pres">
      <dgm:prSet presAssocID="{44F50A13-143B-4F31-8BE2-510B705D5496}" presName="connectorText" presStyleLbl="sibTrans1D1" presStyleIdx="2" presStyleCnt="5"/>
      <dgm:spPr/>
    </dgm:pt>
    <dgm:pt modelId="{C46856BA-DA0C-4B8C-9D71-0730F8712EB6}" type="pres">
      <dgm:prSet presAssocID="{994BAFD7-4094-408D-9739-42B9F26F102B}" presName="node" presStyleLbl="node1" presStyleIdx="3" presStyleCnt="6">
        <dgm:presLayoutVars>
          <dgm:bulletEnabled val="1"/>
        </dgm:presLayoutVars>
      </dgm:prSet>
      <dgm:spPr/>
    </dgm:pt>
    <dgm:pt modelId="{7C7448C5-E934-465D-B2D6-DA05EDDA1680}" type="pres">
      <dgm:prSet presAssocID="{F9E2D47A-5920-49AB-A84C-C35E76A1BE09}" presName="sibTrans" presStyleLbl="sibTrans1D1" presStyleIdx="3" presStyleCnt="5"/>
      <dgm:spPr/>
    </dgm:pt>
    <dgm:pt modelId="{604FB19F-72BC-46BE-A254-4E0413C7C4D9}" type="pres">
      <dgm:prSet presAssocID="{F9E2D47A-5920-49AB-A84C-C35E76A1BE09}" presName="connectorText" presStyleLbl="sibTrans1D1" presStyleIdx="3" presStyleCnt="5"/>
      <dgm:spPr/>
    </dgm:pt>
    <dgm:pt modelId="{59FA5662-F6D3-4F05-8B01-9909E1FB7842}" type="pres">
      <dgm:prSet presAssocID="{20A5A8E6-AF9D-4B48-9C9C-42F817196F17}" presName="node" presStyleLbl="node1" presStyleIdx="4" presStyleCnt="6">
        <dgm:presLayoutVars>
          <dgm:bulletEnabled val="1"/>
        </dgm:presLayoutVars>
      </dgm:prSet>
      <dgm:spPr/>
    </dgm:pt>
    <dgm:pt modelId="{8D394798-D4CF-4A53-B6D1-0E580BEBF3D6}" type="pres">
      <dgm:prSet presAssocID="{FD94146F-3D41-4124-9D62-6F4A82B8F3A3}" presName="sibTrans" presStyleLbl="sibTrans1D1" presStyleIdx="4" presStyleCnt="5"/>
      <dgm:spPr/>
    </dgm:pt>
    <dgm:pt modelId="{1B9E4564-2673-4C44-8ABD-2C275EA5E5CD}" type="pres">
      <dgm:prSet presAssocID="{FD94146F-3D41-4124-9D62-6F4A82B8F3A3}" presName="connectorText" presStyleLbl="sibTrans1D1" presStyleIdx="4" presStyleCnt="5"/>
      <dgm:spPr/>
    </dgm:pt>
    <dgm:pt modelId="{45C05172-F988-4F34-8CA9-86545E0D6A75}" type="pres">
      <dgm:prSet presAssocID="{2CCDE872-A440-407F-BC95-0E67357DBFB3}" presName="node" presStyleLbl="node1" presStyleIdx="5" presStyleCnt="6">
        <dgm:presLayoutVars>
          <dgm:bulletEnabled val="1"/>
        </dgm:presLayoutVars>
      </dgm:prSet>
      <dgm:spPr/>
    </dgm:pt>
  </dgm:ptLst>
  <dgm:cxnLst>
    <dgm:cxn modelId="{61823E07-4DC9-4AC0-B38A-A62922EBB9BD}" type="presOf" srcId="{44F50A13-143B-4F31-8BE2-510B705D5496}" destId="{ABEB1684-752F-4144-9E5E-C4BCEDA8BE28}" srcOrd="0" destOrd="0" presId="urn:microsoft.com/office/officeart/2016/7/layout/RepeatingBendingProcessNew"/>
    <dgm:cxn modelId="{01C10413-9AA1-46EC-9C82-74D4FD7CAE68}" type="presOf" srcId="{63777451-D979-4C3C-B0B0-B37438104827}" destId="{FAE9617D-4D5E-43E5-B3ED-3378FEFA4926}" srcOrd="0" destOrd="0" presId="urn:microsoft.com/office/officeart/2016/7/layout/RepeatingBendingProcessNew"/>
    <dgm:cxn modelId="{8EF52B2F-0F37-43D1-A8AF-9268F011DB72}" srcId="{B3FBA2D1-99F9-4A8B-A0D6-EFB410B41A86}" destId="{994BAFD7-4094-408D-9739-42B9F26F102B}" srcOrd="3" destOrd="0" parTransId="{8F71A5E4-10AC-40DE-8869-B0D8FC4CAFC3}" sibTransId="{F9E2D47A-5920-49AB-A84C-C35E76A1BE09}"/>
    <dgm:cxn modelId="{92C53138-15AC-4B39-9061-9F88D0622BB6}" srcId="{B3FBA2D1-99F9-4A8B-A0D6-EFB410B41A86}" destId="{2CCDE872-A440-407F-BC95-0E67357DBFB3}" srcOrd="5" destOrd="0" parTransId="{1C51DB98-EA00-4FAE-952D-9157FA5A7553}" sibTransId="{5FFB6908-D973-4A26-B4C9-F59619AC797E}"/>
    <dgm:cxn modelId="{A8526B39-05B1-4EF8-9F9C-411BEE016109}" type="presOf" srcId="{A8634CAF-82B3-47D7-8E5F-067152A9E739}" destId="{7ED508F1-E3C0-4153-B35D-496FBF672552}" srcOrd="0" destOrd="0" presId="urn:microsoft.com/office/officeart/2016/7/layout/RepeatingBendingProcessNew"/>
    <dgm:cxn modelId="{47643B42-E2CD-42DE-B274-3B0AB235C984}" type="presOf" srcId="{CE1F3C82-44AB-4ECC-9A34-607B17AEEC1E}" destId="{27E459B2-7275-4DB1-8589-469353E0AFC5}" srcOrd="1" destOrd="0" presId="urn:microsoft.com/office/officeart/2016/7/layout/RepeatingBendingProcessNew"/>
    <dgm:cxn modelId="{133EA142-C9CF-4289-9FC6-5AC8C4C3C739}" type="presOf" srcId="{994BAFD7-4094-408D-9739-42B9F26F102B}" destId="{C46856BA-DA0C-4B8C-9D71-0730F8712EB6}" srcOrd="0" destOrd="0" presId="urn:microsoft.com/office/officeart/2016/7/layout/RepeatingBendingProcessNew"/>
    <dgm:cxn modelId="{FB902D47-13E4-439F-A190-404D73C36736}" type="presOf" srcId="{FD94146F-3D41-4124-9D62-6F4A82B8F3A3}" destId="{1B9E4564-2673-4C44-8ABD-2C275EA5E5CD}" srcOrd="1" destOrd="0" presId="urn:microsoft.com/office/officeart/2016/7/layout/RepeatingBendingProcessNew"/>
    <dgm:cxn modelId="{0159FA6B-6E2D-4BCA-B707-470DA4A7D1AF}" srcId="{B3FBA2D1-99F9-4A8B-A0D6-EFB410B41A86}" destId="{A0905FBD-1011-4950-AB23-A09C80E1FD35}" srcOrd="2" destOrd="0" parTransId="{60117A5E-1653-4717-BC6D-C77F0AA2686E}" sibTransId="{44F50A13-143B-4F31-8BE2-510B705D5496}"/>
    <dgm:cxn modelId="{8537864D-E367-46D5-B13A-1DA345CED60D}" type="presOf" srcId="{2CCDE872-A440-407F-BC95-0E67357DBFB3}" destId="{45C05172-F988-4F34-8CA9-86545E0D6A75}" srcOrd="0" destOrd="0" presId="urn:microsoft.com/office/officeart/2016/7/layout/RepeatingBendingProcessNew"/>
    <dgm:cxn modelId="{82BE1973-A987-4297-8FE3-A7F999F11EBF}" srcId="{B3FBA2D1-99F9-4A8B-A0D6-EFB410B41A86}" destId="{20A5A8E6-AF9D-4B48-9C9C-42F817196F17}" srcOrd="4" destOrd="0" parTransId="{F5B1A99A-A44D-4946-9920-4CDE98E386F5}" sibTransId="{FD94146F-3D41-4124-9D62-6F4A82B8F3A3}"/>
    <dgm:cxn modelId="{1C7C0B75-CE0C-4EE9-8BF2-5D2DEA922D0E}" type="presOf" srcId="{B3FBA2D1-99F9-4A8B-A0D6-EFB410B41A86}" destId="{74013C69-78C0-4E68-B4C5-45E979DB4078}" srcOrd="0" destOrd="0" presId="urn:microsoft.com/office/officeart/2016/7/layout/RepeatingBendingProcessNew"/>
    <dgm:cxn modelId="{3A1EAD91-3D09-40B1-8084-A445D940D696}" srcId="{B3FBA2D1-99F9-4A8B-A0D6-EFB410B41A86}" destId="{A8634CAF-82B3-47D7-8E5F-067152A9E739}" srcOrd="0" destOrd="0" parTransId="{6D716711-4ED5-4665-8BA8-15FDED5DF310}" sibTransId="{CE1F3C82-44AB-4ECC-9A34-607B17AEEC1E}"/>
    <dgm:cxn modelId="{87DAC8A6-E8AF-49E7-BC8B-839C75389F88}" type="presOf" srcId="{44F50A13-143B-4F31-8BE2-510B705D5496}" destId="{A60A99B1-717E-4E9F-81D3-9A5D1A1F552E}" srcOrd="1" destOrd="0" presId="urn:microsoft.com/office/officeart/2016/7/layout/RepeatingBendingProcessNew"/>
    <dgm:cxn modelId="{D59292B5-977C-45EA-9D4A-41633A57C0B7}" type="presOf" srcId="{20A5A8E6-AF9D-4B48-9C9C-42F817196F17}" destId="{59FA5662-F6D3-4F05-8B01-9909E1FB7842}" srcOrd="0" destOrd="0" presId="urn:microsoft.com/office/officeart/2016/7/layout/RepeatingBendingProcessNew"/>
    <dgm:cxn modelId="{6C3022BF-A029-419A-86B3-39D57F20AF1F}" type="presOf" srcId="{BDBCBC2F-9AFD-4F34-8FFC-76E92DBFF17D}" destId="{A6E327ED-ADD3-424D-9462-C4AF599B1DF2}" srcOrd="0" destOrd="0" presId="urn:microsoft.com/office/officeart/2016/7/layout/RepeatingBendingProcessNew"/>
    <dgm:cxn modelId="{14F899BF-9CF2-49EA-B208-9C4C884974D8}" type="presOf" srcId="{BDBCBC2F-9AFD-4F34-8FFC-76E92DBFF17D}" destId="{6B4EF1CF-784B-43C1-9DA3-95FDE4BEAA14}" srcOrd="1" destOrd="0" presId="urn:microsoft.com/office/officeart/2016/7/layout/RepeatingBendingProcessNew"/>
    <dgm:cxn modelId="{5409AFD1-0921-4E89-8A61-67CC598E9813}" type="presOf" srcId="{CE1F3C82-44AB-4ECC-9A34-607B17AEEC1E}" destId="{97CA05C3-E368-4F25-8A42-627790823A78}" srcOrd="0" destOrd="0" presId="urn:microsoft.com/office/officeart/2016/7/layout/RepeatingBendingProcessNew"/>
    <dgm:cxn modelId="{1F4AA3DA-48E6-4F47-A8CD-E449FCAEC6E4}" type="presOf" srcId="{A0905FBD-1011-4950-AB23-A09C80E1FD35}" destId="{66A9070F-492C-496D-8328-8E1CE7E74F4C}" srcOrd="0" destOrd="0" presId="urn:microsoft.com/office/officeart/2016/7/layout/RepeatingBendingProcessNew"/>
    <dgm:cxn modelId="{6CAC57DB-91EA-41FD-806F-645D16C5667E}" type="presOf" srcId="{F9E2D47A-5920-49AB-A84C-C35E76A1BE09}" destId="{604FB19F-72BC-46BE-A254-4E0413C7C4D9}" srcOrd="1" destOrd="0" presId="urn:microsoft.com/office/officeart/2016/7/layout/RepeatingBendingProcessNew"/>
    <dgm:cxn modelId="{B52138E1-EC2A-4E36-84C3-8264B6B441A1}" srcId="{B3FBA2D1-99F9-4A8B-A0D6-EFB410B41A86}" destId="{63777451-D979-4C3C-B0B0-B37438104827}" srcOrd="1" destOrd="0" parTransId="{6C3B5E4D-5622-42C9-9F01-CA6ED04DB0D1}" sibTransId="{BDBCBC2F-9AFD-4F34-8FFC-76E92DBFF17D}"/>
    <dgm:cxn modelId="{A9B417E5-A435-4123-8D73-B63A3C9404B8}" type="presOf" srcId="{F9E2D47A-5920-49AB-A84C-C35E76A1BE09}" destId="{7C7448C5-E934-465D-B2D6-DA05EDDA1680}" srcOrd="0" destOrd="0" presId="urn:microsoft.com/office/officeart/2016/7/layout/RepeatingBendingProcessNew"/>
    <dgm:cxn modelId="{B5486CFD-BA8E-45B9-980D-74A4C06883F6}" type="presOf" srcId="{FD94146F-3D41-4124-9D62-6F4A82B8F3A3}" destId="{8D394798-D4CF-4A53-B6D1-0E580BEBF3D6}" srcOrd="0" destOrd="0" presId="urn:microsoft.com/office/officeart/2016/7/layout/RepeatingBendingProcessNew"/>
    <dgm:cxn modelId="{AC96D8BD-5A4B-4ED2-91B2-23BD48D3E0A7}" type="presParOf" srcId="{74013C69-78C0-4E68-B4C5-45E979DB4078}" destId="{7ED508F1-E3C0-4153-B35D-496FBF672552}" srcOrd="0" destOrd="0" presId="urn:microsoft.com/office/officeart/2016/7/layout/RepeatingBendingProcessNew"/>
    <dgm:cxn modelId="{E41B6B6A-48DB-48D3-AFE4-EC956F50ED06}" type="presParOf" srcId="{74013C69-78C0-4E68-B4C5-45E979DB4078}" destId="{97CA05C3-E368-4F25-8A42-627790823A78}" srcOrd="1" destOrd="0" presId="urn:microsoft.com/office/officeart/2016/7/layout/RepeatingBendingProcessNew"/>
    <dgm:cxn modelId="{87F9A499-2041-4201-A8ED-BC33939A0732}" type="presParOf" srcId="{97CA05C3-E368-4F25-8A42-627790823A78}" destId="{27E459B2-7275-4DB1-8589-469353E0AFC5}" srcOrd="0" destOrd="0" presId="urn:microsoft.com/office/officeart/2016/7/layout/RepeatingBendingProcessNew"/>
    <dgm:cxn modelId="{4BA5022C-1261-447D-B53A-3D4628637ACE}" type="presParOf" srcId="{74013C69-78C0-4E68-B4C5-45E979DB4078}" destId="{FAE9617D-4D5E-43E5-B3ED-3378FEFA4926}" srcOrd="2" destOrd="0" presId="urn:microsoft.com/office/officeart/2016/7/layout/RepeatingBendingProcessNew"/>
    <dgm:cxn modelId="{60D27187-E5A7-4364-BF64-0B4090FDC240}" type="presParOf" srcId="{74013C69-78C0-4E68-B4C5-45E979DB4078}" destId="{A6E327ED-ADD3-424D-9462-C4AF599B1DF2}" srcOrd="3" destOrd="0" presId="urn:microsoft.com/office/officeart/2016/7/layout/RepeatingBendingProcessNew"/>
    <dgm:cxn modelId="{6B629C8F-3399-400D-802E-3AC0B78DFB3B}" type="presParOf" srcId="{A6E327ED-ADD3-424D-9462-C4AF599B1DF2}" destId="{6B4EF1CF-784B-43C1-9DA3-95FDE4BEAA14}" srcOrd="0" destOrd="0" presId="urn:microsoft.com/office/officeart/2016/7/layout/RepeatingBendingProcessNew"/>
    <dgm:cxn modelId="{ACD69F21-19F2-45F0-95CC-7B1F47325D5E}" type="presParOf" srcId="{74013C69-78C0-4E68-B4C5-45E979DB4078}" destId="{66A9070F-492C-496D-8328-8E1CE7E74F4C}" srcOrd="4" destOrd="0" presId="urn:microsoft.com/office/officeart/2016/7/layout/RepeatingBendingProcessNew"/>
    <dgm:cxn modelId="{E5AC4198-0152-446A-8EFB-F18FEA313765}" type="presParOf" srcId="{74013C69-78C0-4E68-B4C5-45E979DB4078}" destId="{ABEB1684-752F-4144-9E5E-C4BCEDA8BE28}" srcOrd="5" destOrd="0" presId="urn:microsoft.com/office/officeart/2016/7/layout/RepeatingBendingProcessNew"/>
    <dgm:cxn modelId="{1E2F760F-D4EF-4024-A0B8-DF81F059CA7B}" type="presParOf" srcId="{ABEB1684-752F-4144-9E5E-C4BCEDA8BE28}" destId="{A60A99B1-717E-4E9F-81D3-9A5D1A1F552E}" srcOrd="0" destOrd="0" presId="urn:microsoft.com/office/officeart/2016/7/layout/RepeatingBendingProcessNew"/>
    <dgm:cxn modelId="{4D21F804-F423-449B-A9E0-1734364C37A4}" type="presParOf" srcId="{74013C69-78C0-4E68-B4C5-45E979DB4078}" destId="{C46856BA-DA0C-4B8C-9D71-0730F8712EB6}" srcOrd="6" destOrd="0" presId="urn:microsoft.com/office/officeart/2016/7/layout/RepeatingBendingProcessNew"/>
    <dgm:cxn modelId="{F39508CC-3358-448F-B1C5-3C0338AAFF8B}" type="presParOf" srcId="{74013C69-78C0-4E68-B4C5-45E979DB4078}" destId="{7C7448C5-E934-465D-B2D6-DA05EDDA1680}" srcOrd="7" destOrd="0" presId="urn:microsoft.com/office/officeart/2016/7/layout/RepeatingBendingProcessNew"/>
    <dgm:cxn modelId="{AB797059-D850-4B75-AC88-8B3A966110C9}" type="presParOf" srcId="{7C7448C5-E934-465D-B2D6-DA05EDDA1680}" destId="{604FB19F-72BC-46BE-A254-4E0413C7C4D9}" srcOrd="0" destOrd="0" presId="urn:microsoft.com/office/officeart/2016/7/layout/RepeatingBendingProcessNew"/>
    <dgm:cxn modelId="{A435E6DD-5DBA-4C27-A1A0-7158C092D0F6}" type="presParOf" srcId="{74013C69-78C0-4E68-B4C5-45E979DB4078}" destId="{59FA5662-F6D3-4F05-8B01-9909E1FB7842}" srcOrd="8" destOrd="0" presId="urn:microsoft.com/office/officeart/2016/7/layout/RepeatingBendingProcessNew"/>
    <dgm:cxn modelId="{B125B857-2363-40F2-ACF9-0E17BCA3302F}" type="presParOf" srcId="{74013C69-78C0-4E68-B4C5-45E979DB4078}" destId="{8D394798-D4CF-4A53-B6D1-0E580BEBF3D6}" srcOrd="9" destOrd="0" presId="urn:microsoft.com/office/officeart/2016/7/layout/RepeatingBendingProcessNew"/>
    <dgm:cxn modelId="{B5B38DA9-B834-4E6A-91F4-ABE881CA73E7}" type="presParOf" srcId="{8D394798-D4CF-4A53-B6D1-0E580BEBF3D6}" destId="{1B9E4564-2673-4C44-8ABD-2C275EA5E5CD}" srcOrd="0" destOrd="0" presId="urn:microsoft.com/office/officeart/2016/7/layout/RepeatingBendingProcessNew"/>
    <dgm:cxn modelId="{63D412AB-7BCD-477B-9B50-4BB95B071272}" type="presParOf" srcId="{74013C69-78C0-4E68-B4C5-45E979DB4078}" destId="{45C05172-F988-4F34-8CA9-86545E0D6A7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A05C3-E368-4F25-8A42-627790823A78}">
      <dsp:nvSpPr>
        <dsp:cNvPr id="0" name=""/>
        <dsp:cNvSpPr/>
      </dsp:nvSpPr>
      <dsp:spPr>
        <a:xfrm>
          <a:off x="2369600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1112159"/>
        <a:ext cx="27198" cy="5439"/>
      </dsp:txXfrm>
    </dsp:sp>
    <dsp:sp modelId="{7ED508F1-E3C0-4153-B35D-496FBF672552}">
      <dsp:nvSpPr>
        <dsp:cNvPr id="0" name=""/>
        <dsp:cNvSpPr/>
      </dsp:nvSpPr>
      <dsp:spPr>
        <a:xfrm>
          <a:off x="6282" y="4053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Need efficient </a:t>
          </a:r>
          <a:r>
            <a:rPr lang="en-IN" sz="1700" b="1" kern="1200"/>
            <a:t>bidirectional DC-DC conversion</a:t>
          </a:r>
          <a:r>
            <a:rPr lang="en-IN" sz="1700" kern="1200"/>
            <a:t> for modern energy systems </a:t>
          </a:r>
          <a:endParaRPr lang="en-US" sz="1700" kern="1200"/>
        </a:p>
      </dsp:txBody>
      <dsp:txXfrm>
        <a:off x="6282" y="405343"/>
        <a:ext cx="2365117" cy="1419070"/>
      </dsp:txXfrm>
    </dsp:sp>
    <dsp:sp modelId="{A6E327ED-ADD3-424D-9462-C4AF599B1DF2}">
      <dsp:nvSpPr>
        <dsp:cNvPr id="0" name=""/>
        <dsp:cNvSpPr/>
      </dsp:nvSpPr>
      <dsp:spPr>
        <a:xfrm>
          <a:off x="5278694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1112159"/>
        <a:ext cx="27198" cy="5439"/>
      </dsp:txXfrm>
    </dsp:sp>
    <dsp:sp modelId="{FAE9617D-4D5E-43E5-B3ED-3378FEFA4926}">
      <dsp:nvSpPr>
        <dsp:cNvPr id="0" name=""/>
        <dsp:cNvSpPr/>
      </dsp:nvSpPr>
      <dsp:spPr>
        <a:xfrm>
          <a:off x="2915376" y="405343"/>
          <a:ext cx="2365117" cy="1419070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Essential in </a:t>
          </a:r>
          <a:r>
            <a:rPr lang="en-IN" sz="1700" b="1" kern="1200"/>
            <a:t>electric vehicles (EVs)</a:t>
          </a:r>
          <a:r>
            <a:rPr lang="en-IN" sz="1700" kern="1200"/>
            <a:t> and </a:t>
          </a:r>
          <a:r>
            <a:rPr lang="en-IN" sz="1700" b="1" kern="1200"/>
            <a:t>battery storage systems</a:t>
          </a:r>
          <a:r>
            <a:rPr lang="en-IN" sz="1700" kern="1200"/>
            <a:t> </a:t>
          </a:r>
          <a:endParaRPr lang="en-US" sz="1700" kern="1200"/>
        </a:p>
      </dsp:txBody>
      <dsp:txXfrm>
        <a:off x="2915376" y="405343"/>
        <a:ext cx="2365117" cy="1419070"/>
      </dsp:txXfrm>
    </dsp:sp>
    <dsp:sp modelId="{ABEB1684-752F-4144-9E5E-C4BCEDA8BE28}">
      <dsp:nvSpPr>
        <dsp:cNvPr id="0" name=""/>
        <dsp:cNvSpPr/>
      </dsp:nvSpPr>
      <dsp:spPr>
        <a:xfrm>
          <a:off x="1188841" y="18226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2076582"/>
        <a:ext cx="292178" cy="5439"/>
      </dsp:txXfrm>
    </dsp:sp>
    <dsp:sp modelId="{66A9070F-492C-496D-8328-8E1CE7E74F4C}">
      <dsp:nvSpPr>
        <dsp:cNvPr id="0" name=""/>
        <dsp:cNvSpPr/>
      </dsp:nvSpPr>
      <dsp:spPr>
        <a:xfrm>
          <a:off x="5824470" y="405343"/>
          <a:ext cx="2365117" cy="1419070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Requires </a:t>
          </a:r>
          <a:r>
            <a:rPr lang="en-IN" sz="1700" b="1" kern="1200"/>
            <a:t>galvanic isolation</a:t>
          </a:r>
          <a:r>
            <a:rPr lang="en-IN" sz="1700" kern="1200"/>
            <a:t> for safety and voltage matching </a:t>
          </a:r>
          <a:endParaRPr lang="en-US" sz="1700" kern="1200"/>
        </a:p>
      </dsp:txBody>
      <dsp:txXfrm>
        <a:off x="5824470" y="405343"/>
        <a:ext cx="2365117" cy="1419070"/>
      </dsp:txXfrm>
    </dsp:sp>
    <dsp:sp modelId="{7C7448C5-E934-465D-B2D6-DA05EDDA1680}">
      <dsp:nvSpPr>
        <dsp:cNvPr id="0" name=""/>
        <dsp:cNvSpPr/>
      </dsp:nvSpPr>
      <dsp:spPr>
        <a:xfrm>
          <a:off x="2369600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3075206"/>
        <a:ext cx="27198" cy="5439"/>
      </dsp:txXfrm>
    </dsp:sp>
    <dsp:sp modelId="{C46856BA-DA0C-4B8C-9D71-0730F8712EB6}">
      <dsp:nvSpPr>
        <dsp:cNvPr id="0" name=""/>
        <dsp:cNvSpPr/>
      </dsp:nvSpPr>
      <dsp:spPr>
        <a:xfrm>
          <a:off x="6282" y="2368390"/>
          <a:ext cx="2365117" cy="1419070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Must provide </a:t>
          </a:r>
          <a:r>
            <a:rPr lang="en-IN" sz="1700" b="1" kern="1200"/>
            <a:t>controlled and reversible power flow</a:t>
          </a:r>
          <a:r>
            <a:rPr lang="en-IN" sz="1700" kern="1200"/>
            <a:t> between sources </a:t>
          </a:r>
          <a:endParaRPr lang="en-US" sz="1700" kern="1200"/>
        </a:p>
      </dsp:txBody>
      <dsp:txXfrm>
        <a:off x="6282" y="2368390"/>
        <a:ext cx="2365117" cy="1419070"/>
      </dsp:txXfrm>
    </dsp:sp>
    <dsp:sp modelId="{8D394798-D4CF-4A53-B6D1-0E580BEBF3D6}">
      <dsp:nvSpPr>
        <dsp:cNvPr id="0" name=""/>
        <dsp:cNvSpPr/>
      </dsp:nvSpPr>
      <dsp:spPr>
        <a:xfrm>
          <a:off x="5278694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3075206"/>
        <a:ext cx="27198" cy="5439"/>
      </dsp:txXfrm>
    </dsp:sp>
    <dsp:sp modelId="{59FA5662-F6D3-4F05-8B01-9909E1FB7842}">
      <dsp:nvSpPr>
        <dsp:cNvPr id="0" name=""/>
        <dsp:cNvSpPr/>
      </dsp:nvSpPr>
      <dsp:spPr>
        <a:xfrm>
          <a:off x="2915376" y="2368390"/>
          <a:ext cx="2365117" cy="1419070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Conventional converters face </a:t>
          </a:r>
          <a:r>
            <a:rPr lang="en-IN" sz="1700" b="1" kern="1200"/>
            <a:t>high losses and limited bidirectional capability</a:t>
          </a:r>
          <a:r>
            <a:rPr lang="en-IN" sz="1700" kern="1200"/>
            <a:t> </a:t>
          </a:r>
          <a:endParaRPr lang="en-US" sz="1700" kern="1200"/>
        </a:p>
      </dsp:txBody>
      <dsp:txXfrm>
        <a:off x="2915376" y="2368390"/>
        <a:ext cx="2365117" cy="1419070"/>
      </dsp:txXfrm>
    </dsp:sp>
    <dsp:sp modelId="{45C05172-F988-4F34-8CA9-86545E0D6A75}">
      <dsp:nvSpPr>
        <dsp:cNvPr id="0" name=""/>
        <dsp:cNvSpPr/>
      </dsp:nvSpPr>
      <dsp:spPr>
        <a:xfrm>
          <a:off x="5824470" y="2368390"/>
          <a:ext cx="2365117" cy="141907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Hence, </a:t>
          </a:r>
          <a:r>
            <a:rPr lang="en-IN" sz="1700" b="1" kern="1200"/>
            <a:t>Dual Active Bridge (DAB)</a:t>
          </a:r>
          <a:r>
            <a:rPr lang="en-IN" sz="1700" kern="1200"/>
            <a:t> is preferred for high efficiency and flexibility </a:t>
          </a:r>
          <a:endParaRPr lang="en-US" sz="1700" kern="1200"/>
        </a:p>
      </dsp:txBody>
      <dsp:txXfrm>
        <a:off x="5824470" y="2368390"/>
        <a:ext cx="2365117" cy="1419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and orange electric plug">
            <a:extLst>
              <a:ext uri="{FF2B5EF4-FFF2-40B4-BE49-F238E27FC236}">
                <a16:creationId xmlns:a16="http://schemas.microsoft.com/office/drawing/2014/main" id="{E5A36129-615E-D9EE-55D1-5C7E700521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10999" b="-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987" y="847763"/>
            <a:ext cx="6858000" cy="290051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Three-Phase DAB Converter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596043"/>
            <a:ext cx="6858000" cy="109839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IN" sz="2800" dirty="0">
                <a:solidFill>
                  <a:srgbClr val="FFFFFF"/>
                </a:solidFill>
              </a:rPr>
              <a:t>Bidirectional Power Transfer</a:t>
            </a:r>
          </a:p>
          <a:p>
            <a:pPr>
              <a:lnSpc>
                <a:spcPct val="90000"/>
              </a:lnSpc>
            </a:pPr>
            <a:r>
              <a:rPr lang="en-IN" sz="2800" dirty="0">
                <a:solidFill>
                  <a:srgbClr val="FFFFFF"/>
                </a:solidFill>
              </a:rPr>
              <a:t>Team Electro</a:t>
            </a:r>
          </a:p>
          <a:p>
            <a:pPr>
              <a:lnSpc>
                <a:spcPct val="90000"/>
              </a:lnSpc>
            </a:pPr>
            <a:r>
              <a:rPr lang="en-IN" sz="2000" dirty="0">
                <a:solidFill>
                  <a:srgbClr val="FFFFFF"/>
                </a:solidFill>
              </a:rPr>
              <a:t>                                                              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Problem Understanding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7201E9-2377-AE33-5672-0455116FB4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8655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• Two 3-phase bridges</a:t>
            </a:r>
            <a:b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• Isolation transformer</a:t>
            </a:r>
            <a:b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• Phase shift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C3C251-14A5-7D61-EFBB-0AB70C117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217131"/>
            <a:ext cx="8495662" cy="3950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Results &amp; Analysis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28699" y="1976284"/>
            <a:ext cx="7545030" cy="4025271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1800" b="1" dirty="0"/>
              <a:t>Forward Charging (</a:t>
            </a:r>
            <a:r>
              <a:rPr lang="el-GR" sz="1800" b="1" dirty="0"/>
              <a:t>δ = 5 µ</a:t>
            </a:r>
            <a:r>
              <a:rPr lang="en-IN" sz="1800" b="1" dirty="0"/>
              <a:t>s)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Input Power: </a:t>
            </a:r>
            <a:r>
              <a:rPr lang="en-IN" sz="1800" b="1" dirty="0"/>
              <a:t>123.7 W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Output Power: </a:t>
            </a:r>
            <a:r>
              <a:rPr lang="en-IN" sz="1800" b="1" dirty="0"/>
              <a:t>100.8 W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Efficiency: </a:t>
            </a:r>
            <a:r>
              <a:rPr lang="en-IN" sz="1800" b="1" dirty="0"/>
              <a:t>81.47%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Current: </a:t>
            </a:r>
            <a:r>
              <a:rPr lang="en-IN" sz="1800" b="1" dirty="0"/>
              <a:t>+2.36 A / −2.09 A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Bridge Losse:</a:t>
            </a:r>
            <a:r>
              <a:rPr lang="en-IN" sz="1800" b="1" dirty="0"/>
              <a:t>1.07(B1),0.89(B2)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800" dirty="0"/>
            </a:br>
            <a:endParaRPr lang="en-IN" sz="1800" dirty="0"/>
          </a:p>
          <a:p>
            <a:pPr>
              <a:lnSpc>
                <a:spcPct val="90000"/>
              </a:lnSpc>
            </a:pPr>
            <a:r>
              <a:rPr lang="en-IN" sz="1800" b="1" dirty="0"/>
              <a:t>Reverse Charging (</a:t>
            </a:r>
            <a:r>
              <a:rPr lang="el-GR" sz="1800" b="1" dirty="0"/>
              <a:t>δ = 7 µ</a:t>
            </a:r>
            <a:r>
              <a:rPr lang="en-IN" sz="1800" b="1" dirty="0"/>
              <a:t>s)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Input Power: </a:t>
            </a:r>
            <a:r>
              <a:rPr lang="en-IN" sz="1800" b="1" dirty="0"/>
              <a:t>168.8 W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Output Power: </a:t>
            </a:r>
            <a:r>
              <a:rPr lang="en-IN" sz="1800" b="1" dirty="0"/>
              <a:t>146.6 W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Efficiency: </a:t>
            </a:r>
            <a:r>
              <a:rPr lang="en-IN" sz="1800" b="1" dirty="0"/>
              <a:t>86.88%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Current: </a:t>
            </a:r>
            <a:r>
              <a:rPr lang="en-IN" sz="1800" b="1" dirty="0"/>
              <a:t>+3.492 A / −2.731 A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Bridge Losses: </a:t>
            </a:r>
            <a:r>
              <a:rPr lang="en-IN" sz="1800" b="1" dirty="0"/>
              <a:t>1.082 W (B1), 0.886 W (B2)</a:t>
            </a:r>
            <a:r>
              <a:rPr lang="en-IN" sz="1800" dirty="0"/>
              <a:t> </a:t>
            </a:r>
          </a:p>
          <a:p>
            <a:pPr>
              <a:lnSpc>
                <a:spcPct val="90000"/>
              </a:lnSpc>
            </a:pP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22E55C2-A394-1831-725F-609012F3BB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699" y="2318197"/>
            <a:ext cx="7293023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Dubey, G.K. –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Fundamentals of Electrical Drives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Rashid, M.H. –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Power Electronics: Circuits, Devices and Applications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Bimbhra, P.S. –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Power Electronics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 Doncker, R.W.A.A., Divan, D.M., Kheraluwala, M.H. –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“A Three-Phase Soft-Switched High-Power-Density DC/DC Converter for High-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Power Applications”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IEEE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Krismer, F., Kolar, J.W. –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“Accurate Power Loss Model Derivation of a High-Current Dual Active Bridge Converter”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IEEE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MATLAB/Simulink Documentation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287</Words>
  <Application>Microsoft Office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Three-Phase DAB Converter</vt:lpstr>
      <vt:lpstr>Problem Understanding</vt:lpstr>
      <vt:lpstr>Modeling Approach</vt:lpstr>
      <vt:lpstr>Results &amp; Analysis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ASHUTOSH PATTANAIK</cp:lastModifiedBy>
  <cp:revision>2</cp:revision>
  <dcterms:created xsi:type="dcterms:W3CDTF">2013-01-27T09:14:16Z</dcterms:created>
  <dcterms:modified xsi:type="dcterms:W3CDTF">2026-03-22T19:50:12Z</dcterms:modified>
  <cp:category/>
</cp:coreProperties>
</file>